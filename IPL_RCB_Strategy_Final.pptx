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4" r:id="rId5"/>
    <p:sldId id="259" r:id="rId6"/>
    <p:sldId id="260" r:id="rId7"/>
    <p:sldId id="278" r:id="rId8"/>
    <p:sldId id="279" r:id="rId9"/>
    <p:sldId id="262" r:id="rId10"/>
    <p:sldId id="280" r:id="rId11"/>
    <p:sldId id="281" r:id="rId12"/>
    <p:sldId id="264" r:id="rId13"/>
    <p:sldId id="265" r:id="rId14"/>
    <p:sldId id="266" r:id="rId15"/>
    <p:sldId id="267" r:id="rId16"/>
    <p:sldId id="268" r:id="rId17"/>
    <p:sldId id="269" r:id="rId18"/>
    <p:sldId id="282" r:id="rId19"/>
    <p:sldId id="283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D6743-5378-0EBE-4322-B97801AAC2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5D11D-D930-1A40-0FFD-D9E5A00F28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6E0A11"/>
              </a:gs>
              <a:gs pos="55000">
                <a:srgbClr val="3A0A0E"/>
              </a:gs>
              <a:gs pos="100000">
                <a:srgbClr val="140E10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"/>
            <a:ext cx="12191695" cy="24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223" y="1371600"/>
            <a:ext cx="2360392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8595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5000" b="1">
                <a:solidFill>
                  <a:srgbClr val="FFFFFF"/>
                </a:solidFill>
                <a:latin typeface="Segoe UI Semibold"/>
              </a:rPr>
              <a:t>Winning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5000" b="1">
                <a:solidFill>
                  <a:srgbClr val="FFFFFF"/>
                </a:solidFill>
                <a:latin typeface="Segoe UI Semibold"/>
              </a:rPr>
              <a:t>Mega-Auction </a:t>
            </a:r>
            <a:r>
              <a:rPr sz="5000" b="1">
                <a:solidFill>
                  <a:srgbClr val="F2A900"/>
                </a:solidFill>
                <a:latin typeface="Segoe UI Semibold"/>
              </a:rPr>
              <a:t>with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4160520"/>
            <a:ext cx="2011680" cy="42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E7CFD2"/>
                </a:solidFill>
                <a:latin typeface="Segoe UI"/>
              </a:rPr>
              <a:t>Who to buy, how to play, and why RCB haven't won — from four seasons of ball-by-ball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A900"/>
                </a:solidFill>
                <a:latin typeface="Segoe UI"/>
              </a:rPr>
              <a:t>SQL + Excel analytics    |    60,223 deliveries    |    15 objective answers, data-verified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 dirty="0">
                <a:solidFill>
                  <a:srgbClr val="1E1C1F"/>
                </a:solidFill>
                <a:latin typeface="Segoe UI Semibold"/>
              </a:rPr>
              <a:t>T</a:t>
            </a:r>
            <a:r>
              <a:rPr sz="3400" b="1" dirty="0">
                <a:solidFill>
                  <a:srgbClr val="1E1C1F"/>
                </a:solidFill>
                <a:latin typeface="Segoe UI Semibold"/>
              </a:rPr>
              <a:t>op-perform</a:t>
            </a:r>
            <a:r>
              <a:rPr lang="en-US" sz="3400" b="1" dirty="0">
                <a:solidFill>
                  <a:srgbClr val="1E1C1F"/>
                </a:solidFill>
                <a:latin typeface="Segoe UI Semibold"/>
              </a:rPr>
              <a:t>ers</a:t>
            </a:r>
            <a:r>
              <a:rPr sz="3400" b="1" dirty="0">
                <a:solidFill>
                  <a:srgbClr val="1E1C1F"/>
                </a:solidFill>
                <a:latin typeface="Segoe UI Semibold"/>
              </a:rPr>
              <a:t>, value-for-money players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01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5797296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060704"/>
            <a:ext cx="5248656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THE BRIEF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The goal. </a:t>
            </a:r>
            <a:r>
              <a:rPr sz="1700" b="0">
                <a:solidFill>
                  <a:srgbClr val="535057"/>
                </a:solidFill>
                <a:latin typeface="Segoe UI"/>
              </a:rPr>
              <a:t>Win a first title — sign reliable, high-impact players and spend smart at the 2017 mega-auction.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The method. </a:t>
            </a:r>
            <a:r>
              <a:rPr sz="1700" b="0">
                <a:solidFill>
                  <a:srgbClr val="535057"/>
                </a:solidFill>
                <a:latin typeface="Segoe UI"/>
              </a:rPr>
              <a:t>Answer all 15 objective questions with verified SQL, then turn the evidence into a buying plan.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The proof. </a:t>
            </a:r>
            <a:r>
              <a:rPr sz="1700" b="0">
                <a:solidFill>
                  <a:srgbClr val="535057"/>
                </a:solidFill>
                <a:latin typeface="Segoe UI"/>
              </a:rPr>
              <a:t>Every KPI is computed from ball-by-ball data and cross-checked in Excel — SQL, tables and charts agree.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969264"/>
            <a:ext cx="2776575" cy="2624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969264"/>
            <a:ext cx="128016" cy="26243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969264"/>
            <a:ext cx="2392527" cy="2624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1">
                <a:solidFill>
                  <a:srgbClr val="D1171F"/>
                </a:solidFill>
                <a:latin typeface="Segoe UI Semibold"/>
              </a:rPr>
              <a:t>60,223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35057"/>
                </a:solidFill>
                <a:latin typeface="Segoe UI"/>
              </a:rPr>
              <a:t>deliveries analysed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9087" y="969264"/>
            <a:ext cx="2776575" cy="2624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59087" y="969264"/>
            <a:ext cx="128016" cy="2624328"/>
          </a:xfrm>
          <a:prstGeom prst="roundRect">
            <a:avLst>
              <a:gd name="adj" fmla="val 50000"/>
            </a:avLst>
          </a:prstGeom>
          <a:solidFill>
            <a:srgbClr val="BE8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6831" y="969264"/>
            <a:ext cx="2392527" cy="2624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1">
                <a:solidFill>
                  <a:srgbClr val="BE840A"/>
                </a:solidFill>
                <a:latin typeface="Segoe UI Semibold"/>
              </a:rPr>
              <a:t>255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35057"/>
                </a:solidFill>
                <a:latin typeface="Segoe UI"/>
              </a:rPr>
              <a:t>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58184"/>
            <a:ext cx="2776575" cy="2624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3758184"/>
            <a:ext cx="128016" cy="2624328"/>
          </a:xfrm>
          <a:prstGeom prst="roundRect">
            <a:avLst>
              <a:gd name="adj" fmla="val 50000"/>
            </a:avLst>
          </a:prstGeom>
          <a:solidFill>
            <a:srgbClr val="BE8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758184"/>
            <a:ext cx="2392527" cy="2624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1">
                <a:solidFill>
                  <a:srgbClr val="BE840A"/>
                </a:solidFill>
                <a:latin typeface="Segoe UI Semibold"/>
              </a:rPr>
              <a:t>20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35057"/>
                </a:solidFill>
                <a:latin typeface="Segoe UI"/>
              </a:rPr>
              <a:t>linked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9087" y="3758184"/>
            <a:ext cx="2776575" cy="2624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59087" y="3758184"/>
            <a:ext cx="128016" cy="26243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96831" y="3758184"/>
            <a:ext cx="2392527" cy="2624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1">
                <a:solidFill>
                  <a:srgbClr val="D1171F"/>
                </a:solidFill>
                <a:latin typeface="Segoe UI Semibold"/>
              </a:rPr>
              <a:t>14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35057"/>
                </a:solidFill>
                <a:latin typeface="Segoe UI"/>
              </a:rPr>
              <a:t>charts built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Five findings that shape the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02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2211567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" y="969264"/>
            <a:ext cx="2211567" cy="128016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6911" y="1298448"/>
            <a:ext cx="749808" cy="749808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6911" y="1298448"/>
            <a:ext cx="7498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Segoe UI Symbol"/>
              </a:rP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157984"/>
            <a:ext cx="2028687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4500" b="1">
                <a:solidFill>
                  <a:srgbClr val="D1171F"/>
                </a:solidFill>
                <a:latin typeface="Segoe UI Semibold"/>
              </a:rPr>
              <a:t>8.37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1C1F"/>
                </a:solidFill>
                <a:latin typeface="Segoe UI"/>
              </a:rPr>
              <a:t>RCB run-rate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77747B"/>
                </a:solidFill>
                <a:latin typeface="Segoe UI"/>
              </a:rPr>
              <a:t>Fastest identity (lg 7.70)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3047" y="969264"/>
            <a:ext cx="2211567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23047" y="969264"/>
            <a:ext cx="2211567" cy="128016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53926" y="1298448"/>
            <a:ext cx="749808" cy="749808"/>
          </a:xfrm>
          <a:prstGeom prst="ellipse">
            <a:avLst/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3926" y="1298448"/>
            <a:ext cx="7498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Segoe UI Symbol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4487" y="2157984"/>
            <a:ext cx="2028687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4500" b="1">
                <a:solidFill>
                  <a:srgbClr val="9E1018"/>
                </a:solidFill>
                <a:latin typeface="Segoe UI Semibold"/>
              </a:rPr>
              <a:t>9.76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1C1F"/>
                </a:solidFill>
                <a:latin typeface="Segoe UI"/>
              </a:rPr>
              <a:t>Death economy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77747B"/>
                </a:solidFill>
                <a:latin typeface="Segoe UI"/>
              </a:rPr>
              <a:t>The one clear weakness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0063" y="969264"/>
            <a:ext cx="2211567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90063" y="969264"/>
            <a:ext cx="2211567" cy="128016"/>
          </a:xfrm>
          <a:prstGeom prst="roundRect">
            <a:avLst>
              <a:gd name="adj" fmla="val 50000"/>
            </a:avLst>
          </a:prstGeom>
          <a:solidFill>
            <a:srgbClr val="BE8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20942" y="1298448"/>
            <a:ext cx="749808" cy="749808"/>
          </a:xfrm>
          <a:prstGeom prst="ellipse">
            <a:avLst/>
          </a:prstGeom>
          <a:solidFill>
            <a:srgbClr val="BE8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0942" y="1298448"/>
            <a:ext cx="7498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Segoe UI Symbol"/>
              </a:rPr>
              <a:t>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1503" y="2157984"/>
            <a:ext cx="2028687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4500" b="1">
                <a:solidFill>
                  <a:srgbClr val="BE840A"/>
                </a:solidFill>
                <a:latin typeface="Segoe UI Semibold"/>
              </a:rPr>
              <a:t>59%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1C1F"/>
                </a:solidFill>
                <a:latin typeface="Segoe UI"/>
              </a:rPr>
              <a:t>Home win-rate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77747B"/>
                </a:solidFill>
                <a:latin typeface="Segoe UI"/>
              </a:rPr>
              <a:t>Fortress vs 45% away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7079" y="969264"/>
            <a:ext cx="2211567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57079" y="969264"/>
            <a:ext cx="2211567" cy="128016"/>
          </a:xfrm>
          <a:prstGeom prst="roundRect">
            <a:avLst>
              <a:gd name="adj" fmla="val 50000"/>
            </a:avLst>
          </a:prstGeom>
          <a:solidFill>
            <a:srgbClr val="BE8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87958" y="1298448"/>
            <a:ext cx="749808" cy="749808"/>
          </a:xfrm>
          <a:prstGeom prst="ellipse">
            <a:avLst/>
          </a:prstGeom>
          <a:solidFill>
            <a:srgbClr val="BE8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87958" y="1298448"/>
            <a:ext cx="7498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19" y="2157984"/>
            <a:ext cx="2028687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4500" b="1">
                <a:solidFill>
                  <a:srgbClr val="BE840A"/>
                </a:solidFill>
                <a:latin typeface="Segoe UI Semibold"/>
              </a:rPr>
              <a:t>90%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1C1F"/>
                </a:solidFill>
                <a:latin typeface="Segoe UI"/>
              </a:rPr>
              <a:t>Win posting 200+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77747B"/>
                </a:solidFill>
                <a:latin typeface="Segoe UI"/>
              </a:rPr>
              <a:t>First-innings runs decide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4095" y="969264"/>
            <a:ext cx="2211567" cy="3127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24095" y="969264"/>
            <a:ext cx="2211567" cy="128016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54974" y="1298448"/>
            <a:ext cx="749808" cy="749808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54974" y="1298448"/>
            <a:ext cx="749808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Segoe UI Symbol"/>
              </a:rPr>
              <a:t>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5535" y="2157984"/>
            <a:ext cx="2028687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4500" b="1">
                <a:solidFill>
                  <a:srgbClr val="D1171F"/>
                </a:solidFill>
                <a:latin typeface="Segoe UI Semibold"/>
              </a:rPr>
              <a:t>55.6%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1C1F"/>
                </a:solidFill>
                <a:latin typeface="Segoe UI"/>
              </a:rPr>
              <a:t>Chase win-rate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77747B"/>
                </a:solidFill>
                <a:latin typeface="Segoe UI"/>
              </a:rPr>
              <a:t>Fielding first beats 43%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" y="4297680"/>
            <a:ext cx="11679631" cy="208483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2A1E22"/>
              </a:gs>
              <a:gs pos="100000">
                <a:srgbClr val="1A1416"/>
              </a:gs>
            </a:gsLst>
            <a:lin ang="0" scaled="1"/>
          </a:gradFill>
          <a:ln>
            <a:noFill/>
          </a:ln>
          <a:effectLst>
            <a:outerShdw blurRad="90000" dist="30000" dir="5400000" rotWithShape="0">
              <a:srgbClr val="2A1E22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6032" y="4297680"/>
            <a:ext cx="137160" cy="208483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4297680"/>
            <a:ext cx="10765231" cy="2084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2A900"/>
                </a:solidFill>
                <a:latin typeface="Segoe UI Semibold"/>
              </a:rPr>
              <a:t>So what?   </a:t>
            </a:r>
            <a:r>
              <a:rPr sz="1900" b="0">
                <a:solidFill>
                  <a:srgbClr val="FFFFFF"/>
                </a:solidFill>
                <a:latin typeface="Segoe UI"/>
              </a:rPr>
              <a:t>RCB out-bat the league but keep losing the death overs. Fix the bowling, keep the batting — and the title math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The database schema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03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7EBD898-7E57-6715-3673-61FF6F2935CB}"/>
              </a:ext>
            </a:extLst>
          </p:cNvPr>
          <p:cNvGrpSpPr/>
          <p:nvPr/>
        </p:nvGrpSpPr>
        <p:grpSpPr>
          <a:xfrm>
            <a:off x="262048" y="900176"/>
            <a:ext cx="11676888" cy="274320"/>
            <a:chOff x="256032" y="841248"/>
            <a:chExt cx="11676888" cy="274320"/>
          </a:xfrm>
        </p:grpSpPr>
        <p:sp>
          <p:nvSpPr>
            <p:cNvPr id="8" name="TextBox 7"/>
            <p:cNvSpPr txBox="1"/>
            <p:nvPr/>
          </p:nvSpPr>
          <p:spPr>
            <a:xfrm>
              <a:off x="256032" y="841248"/>
              <a:ext cx="636231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r>
                <a:rPr sz="1150" b="1" dirty="0">
                  <a:solidFill>
                    <a:srgbClr val="117A3D"/>
                  </a:solidFill>
                  <a:latin typeface="Segoe UI Semibold"/>
                </a:rPr>
                <a:t>PK</a:t>
              </a:r>
              <a:r>
                <a:rPr sz="1150" b="0" dirty="0">
                  <a:solidFill>
                    <a:srgbClr val="807D84"/>
                  </a:solidFill>
                  <a:latin typeface="Segoe UI"/>
                </a:rPr>
                <a:t> primary key       </a:t>
              </a:r>
              <a:r>
                <a:rPr sz="1150" b="1" dirty="0">
                  <a:solidFill>
                    <a:srgbClr val="1D4ED8"/>
                  </a:solidFill>
                  <a:latin typeface="Segoe UI Semibold"/>
                </a:rPr>
                <a:t>FK</a:t>
              </a:r>
              <a:r>
                <a:rPr sz="1150" b="0" dirty="0">
                  <a:solidFill>
                    <a:srgbClr val="807D84"/>
                  </a:solidFill>
                  <a:latin typeface="Segoe UI"/>
                </a:rPr>
                <a:t> foreign key      </a:t>
              </a:r>
              <a:r>
                <a:rPr sz="1400" b="0" dirty="0">
                  <a:solidFill>
                    <a:srgbClr val="807D84"/>
                  </a:solidFill>
                  <a:latin typeface="Segoe UI"/>
                </a:rPr>
                <a:t> </a:t>
              </a:r>
              <a:r>
                <a:rPr sz="1400" b="1" dirty="0">
                  <a:solidFill>
                    <a:srgbClr val="2B292E"/>
                  </a:solidFill>
                  <a:latin typeface="Segoe UI Semibold"/>
                </a:rPr>
                <a:t>→ </a:t>
              </a:r>
              <a:r>
                <a:rPr sz="1150" b="0" dirty="0">
                  <a:solidFill>
                    <a:srgbClr val="444248"/>
                  </a:solidFill>
                  <a:latin typeface="Segoe UI"/>
                </a:rPr>
                <a:t>arrow points from a foreign key to the table it references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46520" y="841248"/>
              <a:ext cx="5486400" cy="27432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150" b="0" dirty="0">
                  <a:solidFill>
                    <a:srgbClr val="D1171F"/>
                  </a:solidFill>
                  <a:latin typeface="Segoe UI"/>
                </a:rPr>
                <a:t>■ </a:t>
              </a:r>
              <a:r>
                <a:rPr sz="1150" b="0" dirty="0">
                  <a:solidFill>
                    <a:srgbClr val="444248"/>
                  </a:solidFill>
                  <a:latin typeface="Segoe UI"/>
                </a:rPr>
                <a:t>fact      </a:t>
              </a:r>
              <a:r>
                <a:rPr sz="1150" b="0" dirty="0">
                  <a:solidFill>
                    <a:srgbClr val="9E1018"/>
                  </a:solidFill>
                  <a:latin typeface="Segoe UI"/>
                </a:rPr>
                <a:t>■ </a:t>
              </a:r>
              <a:r>
                <a:rPr sz="1150" b="0" dirty="0">
                  <a:solidFill>
                    <a:srgbClr val="444248"/>
                  </a:solidFill>
                  <a:latin typeface="Segoe UI"/>
                </a:rPr>
                <a:t>match / dimension      </a:t>
              </a:r>
              <a:r>
                <a:rPr sz="1150" b="0" dirty="0">
                  <a:solidFill>
                    <a:srgbClr val="BE840A"/>
                  </a:solidFill>
                  <a:latin typeface="Segoe UI"/>
                </a:rPr>
                <a:t>■ </a:t>
              </a:r>
              <a:r>
                <a:rPr sz="1150" b="0" dirty="0">
                  <a:solidFill>
                    <a:srgbClr val="444248"/>
                  </a:solidFill>
                  <a:latin typeface="Segoe UI"/>
                </a:rPr>
                <a:t>reference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256032" y="1234440"/>
            <a:ext cx="3374136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" y="1234440"/>
            <a:ext cx="3374136" cy="91440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1371600"/>
            <a:ext cx="337413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D1171F"/>
                </a:solidFill>
                <a:latin typeface="Segoe UI Semibold"/>
              </a:rPr>
              <a:t>Extra_Runs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638808"/>
            <a:ext cx="309981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300" b="0">
                <a:solidFill>
                  <a:srgbClr val="117A3D"/>
                </a:solidFill>
                <a:latin typeface="Segoe UI"/>
              </a:rPr>
              <a:t>Match · Over · Ball · Innings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300" b="0">
                <a:solidFill>
                  <a:srgbClr val="1D4ED8"/>
                </a:solidFill>
                <a:latin typeface="Segoe UI"/>
              </a:rPr>
              <a:t>Extra_Type_Id</a:t>
            </a:r>
          </a:p>
          <a:p>
            <a:pPr marL="283972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807D84"/>
                </a:solidFill>
                <a:latin typeface="Segoe UI"/>
              </a:rPr>
              <a:t>Extra_Runs (value)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234440"/>
            <a:ext cx="3374136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07408" y="1234440"/>
            <a:ext cx="3374136" cy="91440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8" y="1371600"/>
            <a:ext cx="337413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D1171F"/>
                </a:solidFill>
                <a:latin typeface="Segoe UI Semibold"/>
              </a:rPr>
              <a:t>Ball_by_Ball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638808"/>
            <a:ext cx="309981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300" b="0">
                <a:solidFill>
                  <a:srgbClr val="117A3D"/>
                </a:solidFill>
                <a:latin typeface="Segoe UI"/>
              </a:rPr>
              <a:t>Match · Over · Ball · Innings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300" b="0">
                <a:solidFill>
                  <a:srgbClr val="1D4ED8"/>
                </a:solidFill>
                <a:latin typeface="Segoe UI"/>
              </a:rPr>
              <a:t>Striker · Non_Striker · Bowler · Teams</a:t>
            </a:r>
          </a:p>
          <a:p>
            <a:pPr marL="283972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807D84"/>
                </a:solidFill>
                <a:latin typeface="Segoe UI"/>
              </a:rPr>
              <a:t>Runs_Scored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8784" y="1234440"/>
            <a:ext cx="3374136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58784" y="1234440"/>
            <a:ext cx="3374136" cy="91440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58784" y="1371600"/>
            <a:ext cx="337413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D1171F"/>
                </a:solidFill>
                <a:latin typeface="Segoe UI Semibold"/>
              </a:rPr>
              <a:t>Wicket_Taken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3" y="1638808"/>
            <a:ext cx="309981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300" b="0">
                <a:solidFill>
                  <a:srgbClr val="117A3D"/>
                </a:solidFill>
                <a:latin typeface="Segoe UI"/>
              </a:rPr>
              <a:t>Match · Over · Ball · Innings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300" b="0">
                <a:solidFill>
                  <a:srgbClr val="1D4ED8"/>
                </a:solidFill>
                <a:latin typeface="Segoe UI"/>
              </a:rPr>
              <a:t>Player_Out · Kind_Out</a:t>
            </a:r>
          </a:p>
          <a:p>
            <a:pPr marL="283972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807D84"/>
                </a:solidFill>
                <a:latin typeface="Segoe UI"/>
              </a:rPr>
              <a:t>Fielders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" y="2770632"/>
            <a:ext cx="3374136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6032" y="2770632"/>
            <a:ext cx="3374136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2907791"/>
            <a:ext cx="337413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9E1018"/>
                </a:solidFill>
                <a:latin typeface="Segoe UI Semibold"/>
              </a:rPr>
              <a:t>Matches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174999"/>
            <a:ext cx="309981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300" b="0">
                <a:solidFill>
                  <a:srgbClr val="117A3D"/>
                </a:solidFill>
                <a:latin typeface="Segoe UI"/>
              </a:rPr>
              <a:t>Match_Id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300" b="0">
                <a:solidFill>
                  <a:srgbClr val="1D4ED8"/>
                </a:solidFill>
                <a:latin typeface="Segoe UI"/>
              </a:rPr>
              <a:t>Teams · Season · Venue · Toss</a:t>
            </a:r>
          </a:p>
          <a:p>
            <a:pPr marL="283972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807D84"/>
                </a:solidFill>
                <a:latin typeface="Segoe UI"/>
              </a:rPr>
              <a:t>Match_Date · Win_Margin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2770632"/>
            <a:ext cx="3374136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07408" y="2770632"/>
            <a:ext cx="3374136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07408" y="2907791"/>
            <a:ext cx="337413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9E1018"/>
                </a:solidFill>
                <a:latin typeface="Segoe UI Semibold"/>
              </a:rPr>
              <a:t>Player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174999"/>
            <a:ext cx="309981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300" b="0">
                <a:solidFill>
                  <a:srgbClr val="117A3D"/>
                </a:solidFill>
                <a:latin typeface="Segoe UI"/>
              </a:rPr>
              <a:t>Player_Id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300" b="0">
                <a:solidFill>
                  <a:srgbClr val="1D4ED8"/>
                </a:solidFill>
                <a:latin typeface="Segoe UI"/>
              </a:rPr>
              <a:t>Batting_hand · Bowling_skill · Country</a:t>
            </a:r>
          </a:p>
          <a:p>
            <a:pPr marL="283972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807D84"/>
                </a:solidFill>
                <a:latin typeface="Segoe UI"/>
              </a:rPr>
              <a:t>Player_Name · DOB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58784" y="2770632"/>
            <a:ext cx="3374136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58784" y="2770632"/>
            <a:ext cx="3374136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58784" y="2907791"/>
            <a:ext cx="337413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9E1018"/>
                </a:solidFill>
                <a:latin typeface="Segoe UI Semibold"/>
              </a:rPr>
              <a:t>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3" y="3174999"/>
            <a:ext cx="309981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300" b="0">
                <a:solidFill>
                  <a:srgbClr val="117A3D"/>
                </a:solidFill>
                <a:latin typeface="Segoe UI"/>
              </a:rPr>
              <a:t>Team_Id</a:t>
            </a:r>
          </a:p>
          <a:p>
            <a:pPr marL="283972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807D84"/>
                </a:solidFill>
                <a:latin typeface="Segoe UI"/>
              </a:rPr>
              <a:t>Team_Name   ·   8 franchises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" y="4334256"/>
            <a:ext cx="21122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56032" y="4334256"/>
            <a:ext cx="2112264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6032" y="4471416"/>
            <a:ext cx="211226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E1018"/>
                </a:solidFill>
                <a:latin typeface="Segoe UI Semibold"/>
              </a:rPr>
              <a:t>Season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713224"/>
            <a:ext cx="183794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150" b="0">
                <a:solidFill>
                  <a:srgbClr val="117A3D"/>
                </a:solidFill>
                <a:latin typeface="Segoe UI"/>
              </a:rPr>
              <a:t>Season_Id</a:t>
            </a:r>
          </a:p>
          <a:p>
            <a:pPr marL="251206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07D84"/>
                </a:solidFill>
                <a:latin typeface="Segoe UI"/>
              </a:rPr>
              <a:t>Season_Year · Caps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47188" y="4334256"/>
            <a:ext cx="21122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647188" y="4334256"/>
            <a:ext cx="2112264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47188" y="4471416"/>
            <a:ext cx="211226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E1018"/>
                </a:solidFill>
                <a:latin typeface="Segoe UI Semibold"/>
              </a:rPr>
              <a:t>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0068" y="4713224"/>
            <a:ext cx="183794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150" b="0">
                <a:solidFill>
                  <a:srgbClr val="117A3D"/>
                </a:solidFill>
                <a:latin typeface="Segoe UI"/>
              </a:rPr>
              <a:t>Venue_Id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150" b="0">
                <a:solidFill>
                  <a:srgbClr val="1D4ED8"/>
                </a:solidFill>
                <a:latin typeface="Segoe UI"/>
              </a:rPr>
              <a:t>City_Id</a:t>
            </a:r>
          </a:p>
          <a:p>
            <a:pPr marL="251206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07D84"/>
                </a:solidFill>
                <a:latin typeface="Segoe UI"/>
              </a:rPr>
              <a:t>Venue_Name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38344" y="4334256"/>
            <a:ext cx="21122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38344" y="4334256"/>
            <a:ext cx="2112264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38344" y="4471416"/>
            <a:ext cx="211226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E1018"/>
                </a:solidFill>
                <a:latin typeface="Segoe UI Semibold"/>
              </a:rPr>
              <a:t>Player_Match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1224" y="4713224"/>
            <a:ext cx="183794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150" b="0">
                <a:solidFill>
                  <a:srgbClr val="117A3D"/>
                </a:solidFill>
                <a:latin typeface="Segoe UI"/>
              </a:rPr>
              <a:t>Match_Id + Player_Id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150" b="0">
                <a:solidFill>
                  <a:srgbClr val="1D4ED8"/>
                </a:solidFill>
                <a:latin typeface="Segoe UI"/>
              </a:rPr>
              <a:t>Role_Id · Team_Id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334256"/>
            <a:ext cx="21122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429500" y="4334256"/>
            <a:ext cx="2112264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29500" y="4471416"/>
            <a:ext cx="211226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E1018"/>
                </a:solidFill>
                <a:latin typeface="Segoe UI Semibold"/>
              </a:rPr>
              <a:t>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2379" y="4713224"/>
            <a:ext cx="183794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150" b="0">
                <a:solidFill>
                  <a:srgbClr val="117A3D"/>
                </a:solidFill>
                <a:latin typeface="Segoe UI"/>
              </a:rPr>
              <a:t>City_Id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D4ED8"/>
                </a:solidFill>
                <a:latin typeface="Segoe UI Semibold"/>
              </a:rPr>
              <a:t>FK  </a:t>
            </a:r>
            <a:r>
              <a:rPr sz="1150" b="0">
                <a:solidFill>
                  <a:srgbClr val="1D4ED8"/>
                </a:solidFill>
                <a:latin typeface="Segoe UI"/>
              </a:rPr>
              <a:t>Country_id</a:t>
            </a:r>
          </a:p>
          <a:p>
            <a:pPr marL="251206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07D84"/>
                </a:solidFill>
                <a:latin typeface="Segoe UI"/>
              </a:rPr>
              <a:t>City_Name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0656" y="4334256"/>
            <a:ext cx="21122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20656" y="4334256"/>
            <a:ext cx="2112264" cy="91440"/>
          </a:xfrm>
          <a:prstGeom prst="roundRect">
            <a:avLst>
              <a:gd name="adj" fmla="val 50000"/>
            </a:avLst>
          </a:prstGeom>
          <a:solidFill>
            <a:srgbClr val="9E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20656" y="4471416"/>
            <a:ext cx="211226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E1018"/>
                </a:solidFill>
                <a:latin typeface="Segoe UI Semibold"/>
              </a:rPr>
              <a:t>Country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03536" y="4713224"/>
            <a:ext cx="1837944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17A3D"/>
                </a:solidFill>
                <a:latin typeface="Segoe UI Semibold"/>
              </a:rPr>
              <a:t>PK  </a:t>
            </a:r>
            <a:r>
              <a:rPr sz="1150" b="0">
                <a:solidFill>
                  <a:srgbClr val="117A3D"/>
                </a:solidFill>
                <a:latin typeface="Segoe UI"/>
              </a:rPr>
              <a:t>Country_Id</a:t>
            </a:r>
          </a:p>
          <a:p>
            <a:pPr marL="251206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07D84"/>
                </a:solidFill>
                <a:latin typeface="Segoe UI"/>
              </a:rPr>
              <a:t>Country_Name</a:t>
            </a:r>
          </a:p>
        </p:txBody>
      </p:sp>
      <p:cxnSp>
        <p:nvCxnSpPr>
          <p:cNvPr id="54" name="link_0"/>
          <p:cNvCxnSpPr/>
          <p:nvPr/>
        </p:nvCxnSpPr>
        <p:spPr>
          <a:xfrm>
            <a:off x="3630168" y="1773936"/>
            <a:ext cx="777240" cy="0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link_1"/>
          <p:cNvCxnSpPr/>
          <p:nvPr/>
        </p:nvCxnSpPr>
        <p:spPr>
          <a:xfrm flipH="1">
            <a:off x="7781544" y="1773936"/>
            <a:ext cx="777240" cy="0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k_2"/>
          <p:cNvCxnSpPr/>
          <p:nvPr/>
        </p:nvCxnSpPr>
        <p:spPr>
          <a:xfrm>
            <a:off x="5394960" y="2313432"/>
            <a:ext cx="0" cy="22860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nk_3"/>
          <p:cNvCxnSpPr/>
          <p:nvPr/>
        </p:nvCxnSpPr>
        <p:spPr>
          <a:xfrm flipH="1">
            <a:off x="1943100" y="2542032"/>
            <a:ext cx="3451860" cy="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link_4"/>
          <p:cNvCxnSpPr/>
          <p:nvPr/>
        </p:nvCxnSpPr>
        <p:spPr>
          <a:xfrm>
            <a:off x="1943100" y="2542032"/>
            <a:ext cx="0" cy="228600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ink_5"/>
          <p:cNvCxnSpPr/>
          <p:nvPr/>
        </p:nvCxnSpPr>
        <p:spPr>
          <a:xfrm>
            <a:off x="6094476" y="2313432"/>
            <a:ext cx="0" cy="457200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ink_6"/>
          <p:cNvCxnSpPr/>
          <p:nvPr/>
        </p:nvCxnSpPr>
        <p:spPr>
          <a:xfrm>
            <a:off x="6812280" y="2313432"/>
            <a:ext cx="0" cy="22860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ink_7"/>
          <p:cNvCxnSpPr/>
          <p:nvPr/>
        </p:nvCxnSpPr>
        <p:spPr>
          <a:xfrm>
            <a:off x="6812280" y="2542032"/>
            <a:ext cx="3433572" cy="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nk_8"/>
          <p:cNvCxnSpPr/>
          <p:nvPr/>
        </p:nvCxnSpPr>
        <p:spPr>
          <a:xfrm>
            <a:off x="10245852" y="2542032"/>
            <a:ext cx="0" cy="228600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ink_9"/>
          <p:cNvCxnSpPr/>
          <p:nvPr/>
        </p:nvCxnSpPr>
        <p:spPr>
          <a:xfrm flipV="1">
            <a:off x="5440680" y="4059936"/>
            <a:ext cx="0" cy="27432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ink_10"/>
          <p:cNvCxnSpPr/>
          <p:nvPr/>
        </p:nvCxnSpPr>
        <p:spPr>
          <a:xfrm flipH="1">
            <a:off x="1943100" y="4059936"/>
            <a:ext cx="3497580" cy="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ink_11"/>
          <p:cNvCxnSpPr/>
          <p:nvPr/>
        </p:nvCxnSpPr>
        <p:spPr>
          <a:xfrm flipV="1">
            <a:off x="1943100" y="3849624"/>
            <a:ext cx="0" cy="210312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nk_12"/>
          <p:cNvCxnSpPr/>
          <p:nvPr/>
        </p:nvCxnSpPr>
        <p:spPr>
          <a:xfrm flipV="1">
            <a:off x="6094476" y="3849624"/>
            <a:ext cx="0" cy="484632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ink_13"/>
          <p:cNvCxnSpPr/>
          <p:nvPr/>
        </p:nvCxnSpPr>
        <p:spPr>
          <a:xfrm flipV="1">
            <a:off x="6748272" y="4059936"/>
            <a:ext cx="0" cy="27432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link_14"/>
          <p:cNvCxnSpPr/>
          <p:nvPr/>
        </p:nvCxnSpPr>
        <p:spPr>
          <a:xfrm>
            <a:off x="6748272" y="4059936"/>
            <a:ext cx="3497580" cy="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nk_15"/>
          <p:cNvCxnSpPr/>
          <p:nvPr/>
        </p:nvCxnSpPr>
        <p:spPr>
          <a:xfrm flipV="1">
            <a:off x="10245852" y="3849624"/>
            <a:ext cx="0" cy="210312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nk_16"/>
          <p:cNvCxnSpPr/>
          <p:nvPr/>
        </p:nvCxnSpPr>
        <p:spPr>
          <a:xfrm>
            <a:off x="1312164" y="3849624"/>
            <a:ext cx="0" cy="484632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nk_17"/>
          <p:cNvCxnSpPr/>
          <p:nvPr/>
        </p:nvCxnSpPr>
        <p:spPr>
          <a:xfrm>
            <a:off x="3017520" y="3849624"/>
            <a:ext cx="0" cy="338328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nk_18"/>
          <p:cNvCxnSpPr/>
          <p:nvPr/>
        </p:nvCxnSpPr>
        <p:spPr>
          <a:xfrm>
            <a:off x="3017520" y="4187952"/>
            <a:ext cx="685800" cy="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nk_19"/>
          <p:cNvCxnSpPr/>
          <p:nvPr/>
        </p:nvCxnSpPr>
        <p:spPr>
          <a:xfrm>
            <a:off x="3703320" y="4187952"/>
            <a:ext cx="0" cy="146304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nk_23"/>
          <p:cNvCxnSpPr/>
          <p:nvPr/>
        </p:nvCxnSpPr>
        <p:spPr>
          <a:xfrm>
            <a:off x="9541764" y="4818888"/>
            <a:ext cx="278892" cy="0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ink_24"/>
          <p:cNvCxnSpPr/>
          <p:nvPr/>
        </p:nvCxnSpPr>
        <p:spPr>
          <a:xfrm>
            <a:off x="7498079" y="3849624"/>
            <a:ext cx="0" cy="338328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link_25"/>
          <p:cNvCxnSpPr/>
          <p:nvPr/>
        </p:nvCxnSpPr>
        <p:spPr>
          <a:xfrm>
            <a:off x="7498079" y="4187952"/>
            <a:ext cx="3378709" cy="0"/>
          </a:xfrm>
          <a:prstGeom prst="line">
            <a:avLst/>
          </a:prstGeom>
          <a:ln w="22225">
            <a:solidFill>
              <a:srgbClr val="5858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link_26"/>
          <p:cNvCxnSpPr/>
          <p:nvPr/>
        </p:nvCxnSpPr>
        <p:spPr>
          <a:xfrm>
            <a:off x="10876788" y="4187952"/>
            <a:ext cx="0" cy="146304"/>
          </a:xfrm>
          <a:prstGeom prst="line">
            <a:avLst/>
          </a:prstGeom>
          <a:ln w="22225">
            <a:solidFill>
              <a:srgbClr val="5858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56032" y="5477256"/>
            <a:ext cx="21001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dirty="0">
                <a:solidFill>
                  <a:srgbClr val="BE840A"/>
                </a:solidFill>
                <a:latin typeface="Segoe UI Semibold"/>
              </a:rPr>
              <a:t>REFERENCE / LOOKUP TABLES</a:t>
            </a:r>
            <a:endParaRPr sz="1050" b="0" dirty="0">
              <a:solidFill>
                <a:srgbClr val="807D84"/>
              </a:solidFill>
              <a:latin typeface="Segoe UI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76CF220-E7C5-BB5C-FDD3-8342052D1B53}"/>
              </a:ext>
            </a:extLst>
          </p:cNvPr>
          <p:cNvGrpSpPr/>
          <p:nvPr/>
        </p:nvGrpSpPr>
        <p:grpSpPr>
          <a:xfrm>
            <a:off x="254204" y="5747117"/>
            <a:ext cx="11678716" cy="731520"/>
            <a:chOff x="256032" y="5650992"/>
            <a:chExt cx="11678716" cy="731520"/>
          </a:xfrm>
        </p:grpSpPr>
        <p:sp>
          <p:nvSpPr>
            <p:cNvPr id="82" name="Rounded Rectangle 81"/>
            <p:cNvSpPr/>
            <p:nvPr/>
          </p:nvSpPr>
          <p:spPr>
            <a:xfrm>
              <a:off x="256032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256032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56032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Batting_Style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38912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Batting_Id</a:t>
              </a:r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1567281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1567281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567281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Bowling_Style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750161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Bowling_Id</a:t>
              </a:r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2878531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2878531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878531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Toss_Decision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061411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Toss_Id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4189780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4189780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189780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Win_By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372660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Win_Id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5501030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5501030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501030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Outcome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683910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Outcome_Id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6812280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6812280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812280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Out_Type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995160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Out_Id</a:t>
              </a:r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8123529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8123529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8123529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Extra_Type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306409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Extra_Id</a:t>
              </a:r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9434779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9434779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434779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Rolee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617659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Role_Id</a:t>
              </a:r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10746028" y="5650992"/>
              <a:ext cx="1188720" cy="7315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4E2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10746028" y="5650992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BE84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0746028" y="5788151"/>
              <a:ext cx="1188720" cy="310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1">
                  <a:solidFill>
                    <a:srgbClr val="BE840A"/>
                  </a:solidFill>
                  <a:latin typeface="Segoe UI Semibold"/>
                </a:rPr>
                <a:t>Umpire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0928908" y="5985509"/>
              <a:ext cx="91440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900" b="1">
                  <a:solidFill>
                    <a:srgbClr val="117A3D"/>
                  </a:solidFill>
                  <a:latin typeface="Segoe UI Semibold"/>
                </a:rPr>
                <a:t>PK  </a:t>
              </a:r>
              <a:r>
                <a:rPr sz="900" b="0">
                  <a:solidFill>
                    <a:srgbClr val="117A3D"/>
                  </a:solidFill>
                  <a:latin typeface="Segoe UI"/>
                </a:rPr>
                <a:t>Umpire_Id</a:t>
              </a:r>
            </a:p>
          </p:txBody>
        </p:sp>
      </p:grp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7D1D0FAD-EFA0-A767-517E-7EF9CBD5AFF1}"/>
              </a:ext>
            </a:extLst>
          </p:cNvPr>
          <p:cNvCxnSpPr>
            <a:cxnSpLocks/>
            <a:stCxn id="41" idx="2"/>
            <a:endCxn id="49" idx="2"/>
          </p:cNvCxnSpPr>
          <p:nvPr/>
        </p:nvCxnSpPr>
        <p:spPr>
          <a:xfrm rot="16200000" flipH="1">
            <a:off x="6140195" y="2943860"/>
            <a:ext cx="12700" cy="4782311"/>
          </a:xfrm>
          <a:prstGeom prst="bentConnector3">
            <a:avLst>
              <a:gd name="adj1" fmla="val 1269472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22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Firepower up front, leakage at the death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04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0_rcb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72357"/>
            <a:ext cx="8000999" cy="44070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DF5E4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BE840A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Elite finishers. </a:t>
            </a:r>
            <a:r>
              <a:rPr sz="1700" b="0">
                <a:solidFill>
                  <a:srgbClr val="535057"/>
                </a:solidFill>
                <a:latin typeface="Segoe UI"/>
              </a:rPr>
              <a:t>RCB score 10.96 runs/over in the death overs — among the best.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But they leak. </a:t>
            </a:r>
            <a:r>
              <a:rPr sz="1700" b="0">
                <a:solidFill>
                  <a:srgbClr val="535057"/>
                </a:solidFill>
                <a:latin typeface="Segoe UI"/>
              </a:rPr>
              <a:t>They concede 9.76/over at the death; games slip away here.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Highest-leverage fix. </a:t>
            </a:r>
            <a:r>
              <a:rPr sz="1700" b="0">
                <a:solidFill>
                  <a:srgbClr val="535057"/>
                </a:solidFill>
                <a:latin typeface="Segoe UI"/>
              </a:rPr>
              <a:t>Buying death bowling is the single biggest improvement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RCB out-hit the league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05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4_boundary_d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82852"/>
            <a:ext cx="8000999" cy="47860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More boundaries. </a:t>
            </a:r>
            <a:r>
              <a:rPr sz="1700" b="0">
                <a:solidFill>
                  <a:srgbClr val="535057"/>
                </a:solidFill>
                <a:latin typeface="Segoe UI"/>
              </a:rPr>
              <a:t>18.8% of balls find the rope vs 16.4% league-wide.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Same risk. </a:t>
            </a:r>
            <a:r>
              <a:rPr sz="1700" b="0">
                <a:solidFill>
                  <a:srgbClr val="535057"/>
                </a:solidFill>
                <a:latin typeface="Segoe UI"/>
              </a:rPr>
              <a:t>Dot-ball rate is in line with the league — aggression without extra danger.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Recruit to sustain it. </a:t>
            </a:r>
            <a:r>
              <a:rPr sz="1700" b="0">
                <a:solidFill>
                  <a:srgbClr val="535057"/>
                </a:solidFill>
                <a:latin typeface="Segoe UI"/>
              </a:rPr>
              <a:t>Target stroke-makers who keep this up on a fast outfield.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Chinnaswamy is a fortress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06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892931"/>
            <a:ext cx="2809952" cy="35659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Big home edge.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RCB win 59.3% at Chinnaswamy vs 45.5% away.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Attack the deck.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It's a flat, high-scoring ground made for stroke-play.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Recruit for it.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Favour players with a strong record at home.</a:t>
            </a:r>
            <a:endParaRPr sz="1700" b="0">
              <a:solidFill>
                <a:srgbClr val="535057"/>
              </a:solidFill>
              <a:latin typeface="Segoe U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96631E-449B-7B7D-ACDF-42047742A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86" y="1472184"/>
            <a:ext cx="6732372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Recruit for high-scoring grounds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07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738594"/>
            <a:ext cx="2809952" cy="3874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Runs galore.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Chinnaswamy is among the league's highest-scoring venues.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Do not leak.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Flat decks reward big hitters and punish costly bowling.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Buy accordingly.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Prioritise power hitters and economical death bowlers.</a:t>
            </a:r>
            <a:endParaRPr sz="1700" b="0">
              <a:solidFill>
                <a:srgbClr val="535057"/>
              </a:solidFill>
              <a:latin typeface="Segoe U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98C2D9-66D7-CB2F-2C7F-975A51B37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4" y="1472184"/>
            <a:ext cx="7900936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3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Set a big total, win the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08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_score_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72357"/>
            <a:ext cx="8000999" cy="44070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DF5E4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BE840A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Runs are gold. </a:t>
            </a:r>
            <a:r>
              <a:rPr sz="1700" b="0">
                <a:solidFill>
                  <a:srgbClr val="535057"/>
                </a:solidFill>
                <a:latin typeface="Segoe UI"/>
              </a:rPr>
              <a:t>Posting 180+ wins ~60%; 200+ wins 90% of the time.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Dots are fatal. </a:t>
            </a:r>
            <a:r>
              <a:rPr sz="1700" b="0">
                <a:solidFill>
                  <a:srgbClr val="535057"/>
                </a:solidFill>
                <a:latin typeface="Segoe UI"/>
              </a:rPr>
              <a:t>Totals under 140 are defended just 18% of the time.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Plan, not luxury. </a:t>
            </a:r>
            <a:r>
              <a:rPr sz="1700" b="0">
                <a:solidFill>
                  <a:srgbClr val="535057"/>
                </a:solidFill>
                <a:latin typeface="Segoe UI"/>
              </a:rPr>
              <a:t>At this venue power-hitting depth is the game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Default to bowling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09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892931"/>
            <a:ext cx="2809952" cy="35659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Chasing wins.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Fielding first wins 55.6% of matches vs 43.0% batting first.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Win toss, bowl.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Make chasing the default plan at the toss.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Stay flexible.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Override where a venue clearly rewards batting first.</a:t>
            </a:r>
            <a:endParaRPr sz="1700" b="0">
              <a:solidFill>
                <a:srgbClr val="535057"/>
              </a:solidFill>
              <a:latin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006B00-7CBB-0C45-F019-1D88FB417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71" y="1472184"/>
            <a:ext cx="6817402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8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But read the venue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10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892931"/>
            <a:ext cx="2809952" cy="35659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It flips by ground.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The toss edge swings from ~35% to ~60% across venues.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No blanket rule.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The right call depends on the specific stadium.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Plan per venue.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Set the toss decision ground-by-ground.</a:t>
            </a:r>
            <a:endParaRPr sz="1700" b="0">
              <a:solidFill>
                <a:srgbClr val="535057"/>
              </a:solidFill>
              <a:latin typeface="Segoe U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0CD5CF-DAE2-EED7-D342-5B75497A8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38" y="1472184"/>
            <a:ext cx="7266267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52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Competitive, never dominant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11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rcb_winpct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381511"/>
            <a:ext cx="8000999" cy="45887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Stuck mid-table. </a:t>
            </a:r>
            <a:r>
              <a:rPr sz="1700" b="0">
                <a:solidFill>
                  <a:srgbClr val="535057"/>
                </a:solidFill>
                <a:latin typeface="Segoe UI"/>
              </a:rPr>
              <a:t>Win-rate sits in a 36–56% band — never the league's best side.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Batting carries them. </a:t>
            </a:r>
            <a:r>
              <a:rPr sz="1700" b="0">
                <a:solidFill>
                  <a:srgbClr val="535057"/>
                </a:solidFill>
                <a:latin typeface="Segoe UI"/>
              </a:rPr>
              <a:t>Elite batting is undercut by bowling that can't close games.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Balance wins titles. </a:t>
            </a:r>
            <a:r>
              <a:rPr sz="1700" b="0">
                <a:solidFill>
                  <a:srgbClr val="535057"/>
                </a:solidFill>
                <a:latin typeface="Segoe UI"/>
              </a:rPr>
              <a:t>Buy the bowling and add an all-rounder to break the drought.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The consistent core to build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12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2_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49080"/>
            <a:ext cx="8000999" cy="42536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DF5E4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BE840A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Repeat performers. </a:t>
            </a:r>
            <a:r>
              <a:rPr sz="1700" b="0">
                <a:solidFill>
                  <a:srgbClr val="535057"/>
                </a:solidFill>
                <a:latin typeface="Segoe UI"/>
              </a:rPr>
              <a:t>Kohli, Warner &amp; de Villiers post 400+ almost every season.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Metronomic. </a:t>
            </a:r>
            <a:r>
              <a:rPr sz="1700" b="0">
                <a:solidFill>
                  <a:srgbClr val="535057"/>
                </a:solidFill>
                <a:latin typeface="Segoe UI"/>
              </a:rPr>
              <a:t>Rohit Sharma has the lowest year-to-year spread of the group.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Retain the spine. </a:t>
            </a:r>
            <a:r>
              <a:rPr sz="1700" b="0">
                <a:solidFill>
                  <a:srgbClr val="535057"/>
                </a:solidFill>
                <a:latin typeface="Segoe UI"/>
              </a:rPr>
              <a:t>Consistency — not one hot year — is the retention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Recruit for the home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13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_venu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08583"/>
            <a:ext cx="8000999" cy="45346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Home specialists. </a:t>
            </a:r>
            <a:r>
              <a:rPr sz="1700" b="0">
                <a:solidFill>
                  <a:srgbClr val="535057"/>
                </a:solidFill>
                <a:latin typeface="Segoe UI"/>
              </a:rPr>
              <a:t>Kohli (1200) and de Villiers (967) torch Chinnaswamy.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Condition edge. </a:t>
            </a:r>
            <a:r>
              <a:rPr sz="1700" b="0">
                <a:solidFill>
                  <a:srgbClr val="535057"/>
                </a:solidFill>
                <a:latin typeface="Segoe UI"/>
              </a:rPr>
              <a:t>Some players clearly thrive on flat, high-scoring pitches.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Buy for the ground. </a:t>
            </a:r>
            <a:r>
              <a:rPr sz="1700" b="0">
                <a:solidFill>
                  <a:srgbClr val="535057"/>
                </a:solidFill>
                <a:latin typeface="Segoe UI"/>
              </a:rPr>
              <a:t>Weight recruitment toward proven Chinnaswamy scorers.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Two-way value wins T20s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14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1_allrounder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525"/>
            <a:ext cx="8000999" cy="50107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DF5E4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BE840A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Rare and vital. </a:t>
            </a:r>
            <a:r>
              <a:rPr sz="1700" b="0">
                <a:solidFill>
                  <a:srgbClr val="535057"/>
                </a:solidFill>
                <a:latin typeface="Segoe UI"/>
              </a:rPr>
              <a:t>Watson, Russell, Jadeja &amp; Henriques give bat and ball in one slot.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Lengthen the XI. </a:t>
            </a:r>
            <a:r>
              <a:rPr sz="1700" b="0">
                <a:solidFill>
                  <a:srgbClr val="535057"/>
                </a:solidFill>
                <a:latin typeface="Segoe UI"/>
              </a:rPr>
              <a:t>An elite all-rounder adds a sixth bowling option and batting depth.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Prioritise it. </a:t>
            </a:r>
            <a:r>
              <a:rPr sz="1700" b="0">
                <a:solidFill>
                  <a:srgbClr val="535057"/>
                </a:solidFill>
                <a:latin typeface="Segoe UI"/>
              </a:rPr>
              <a:t>Two-way value is scarce — pay up for it at the auction.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Buy impact, not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15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rike_lollip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0959"/>
            <a:ext cx="8000999" cy="512985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Explosive top order. </a:t>
            </a:r>
            <a:r>
              <a:rPr sz="1700" b="0">
                <a:solidFill>
                  <a:srgbClr val="535057"/>
                </a:solidFill>
                <a:latin typeface="Segoe UI"/>
              </a:rPr>
              <a:t>High-SR strikers — de Villiers, Gayle, Maxwell, Warner.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Two death bowlers. </a:t>
            </a:r>
            <a:r>
              <a:rPr sz="1700" b="0">
                <a:solidFill>
                  <a:srgbClr val="535057"/>
                </a:solidFill>
                <a:latin typeface="Segoe UI"/>
              </a:rPr>
              <a:t>Yorker specialists with low 16–20 economy (Malinga, Steyn, Bhuvneshwar).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Concentrate spend. </a:t>
            </a:r>
            <a:r>
              <a:rPr sz="1700" b="0">
                <a:solidFill>
                  <a:srgbClr val="535057"/>
                </a:solidFill>
                <a:latin typeface="Segoe UI"/>
              </a:rPr>
              <a:t>Back 3–4 match-winners; fill the rest with value picks.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Pace takes the wickets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16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_wickets_by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97556"/>
            <a:ext cx="8000999" cy="43566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DF5E4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BE840A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Seam dominates. </a:t>
            </a:r>
            <a:r>
              <a:rPr sz="1700" b="0">
                <a:solidFill>
                  <a:srgbClr val="535057"/>
                </a:solidFill>
                <a:latin typeface="Segoe UI"/>
              </a:rPr>
              <a:t>Right-arm medium and fast styles take the most wickets in the data.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Spin still matters. </a:t>
            </a:r>
            <a:r>
              <a:rPr sz="1700" b="0">
                <a:solidFill>
                  <a:srgbClr val="535057"/>
                </a:solidFill>
                <a:latin typeface="Segoe UI"/>
              </a:rPr>
              <a:t>Off-break and left-arm orthodox add vital middle-overs control.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Buy accordingly. </a:t>
            </a:r>
            <a:r>
              <a:rPr sz="1700" b="0">
                <a:solidFill>
                  <a:srgbClr val="535057"/>
                </a:solidFill>
                <a:latin typeface="Segoe UI"/>
              </a:rPr>
              <a:t>Two reliable seamers plus a quality spinner balance the attack.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The batters to build around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17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892931"/>
            <a:ext cx="2809952" cy="35659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Per-innings leaders.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Simmons, Kohli, Warner and de Villiers top the list.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Proven, not lucky.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All qualified at 20+ innings, so no small samples.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The batting core.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Anchor the top order around these names.</a:t>
            </a:r>
            <a:endParaRPr sz="1700" b="0">
              <a:solidFill>
                <a:srgbClr val="535057"/>
              </a:solidFill>
              <a:latin typeface="Segoe U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A6510E-2F58-4824-7BA0-6D0FD8577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69" y="1472185"/>
            <a:ext cx="6726406" cy="440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98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0152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400" b="1">
                <a:solidFill>
                  <a:srgbClr val="1E1C1F"/>
                </a:solidFill>
                <a:latin typeface="Segoe UI Semibold" panose="020B0702040204020203" pitchFamily="34" charset="0"/>
              </a:rPr>
              <a:t>The bowlers to build around</a:t>
            </a:r>
            <a:endParaRPr sz="3400" b="1">
              <a:solidFill>
                <a:srgbClr val="1E1C1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18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892931"/>
            <a:ext cx="2809952" cy="35659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Strike bowlers win T20s.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Bravo, Tahir and Malinga lead wickets per innings.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Pace and death.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Specialist strike bowlers are the scarce asset.</a:t>
            </a:r>
            <a:endParaRPr sz="1700" b="0">
              <a:solidFill>
                <a:srgbClr val="535057"/>
              </a:solidFill>
              <a:latin typeface="Segoe U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lang="en-US" sz="1700" b="1">
                <a:solidFill>
                  <a:srgbClr val="1E1C1F"/>
                </a:solidFill>
                <a:latin typeface="Segoe UI"/>
              </a:rPr>
              <a:t>Highest-value buys. </a:t>
            </a:r>
            <a:r>
              <a:rPr lang="en-US" sz="1700" b="0">
                <a:solidFill>
                  <a:srgbClr val="535057"/>
                </a:solidFill>
                <a:latin typeface="Segoe UI"/>
              </a:rPr>
              <a:t>Spend here to fix RCB's bowling.</a:t>
            </a:r>
            <a:endParaRPr sz="1700" b="0">
              <a:solidFill>
                <a:srgbClr val="535057"/>
              </a:solidFill>
              <a:latin typeface="Segoe U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C2C54C-85B2-634D-7934-61159D142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63" y="1472184"/>
            <a:ext cx="6959617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91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446" y="128016"/>
            <a:ext cx="545217" cy="7498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6032" y="219456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73152"/>
            <a:ext cx="10362895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E1C1F"/>
                </a:solidFill>
                <a:latin typeface="Segoe UI Semibold"/>
              </a:rPr>
              <a:t>Bowling specialists by 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77747B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D1171F"/>
                </a:solidFill>
                <a:latin typeface="Segoe UI"/>
              </a:rPr>
              <a:t>19</a:t>
            </a:r>
            <a:endParaRPr sz="1100" b="1">
              <a:solidFill>
                <a:srgbClr val="D1171F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969264"/>
            <a:ext cx="8183879" cy="5413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AE6E1"/>
            </a:solidFill>
          </a:ln>
          <a:effectLst>
            <a:outerShdw blurRad="90000" dist="30000" dir="5400000" rotWithShape="0">
              <a:srgbClr val="2A1E22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q13_venue_bowlers_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43669"/>
            <a:ext cx="8000999" cy="40644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1" y="969264"/>
            <a:ext cx="3358592" cy="5413248"/>
          </a:xfrm>
          <a:prstGeom prst="roundRect">
            <a:avLst>
              <a:gd name="adj" fmla="val 5000"/>
            </a:avLst>
          </a:prstGeom>
          <a:solidFill>
            <a:srgbClr val="FCEFF0"/>
          </a:solidFill>
          <a:ln>
            <a:noFill/>
          </a:ln>
          <a:effectLst>
            <a:outerShdw blurRad="90000" dist="30000" dir="5400000" rotWithShape="0">
              <a:srgbClr val="2A1E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77071" y="969264"/>
            <a:ext cx="118872" cy="5413248"/>
          </a:xfrm>
          <a:prstGeom prst="roundRect">
            <a:avLst>
              <a:gd name="adj" fmla="val 50000"/>
            </a:avLst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5" y="1060704"/>
            <a:ext cx="2809952" cy="5230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9E1018"/>
                </a:solidFill>
                <a:latin typeface="Segoe UI Semibold"/>
              </a:rPr>
              <a:t>WHAT IT MEANS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Ground-specific edges. </a:t>
            </a:r>
            <a:r>
              <a:rPr sz="1700" b="0">
                <a:solidFill>
                  <a:srgbClr val="535057"/>
                </a:solidFill>
                <a:latin typeface="Segoe UI"/>
              </a:rPr>
              <a:t>Some bowlers dominate particular venues (RANK 1 per ground).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Home cover. </a:t>
            </a:r>
            <a:r>
              <a:rPr sz="1700" b="0">
                <a:solidFill>
                  <a:srgbClr val="535057"/>
                </a:solidFill>
                <a:latin typeface="Segoe UI"/>
              </a:rPr>
              <a:t>Target seamers who can control high-scoring Chinnaswamy conditions.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BE840A"/>
                </a:solidFill>
                <a:latin typeface="Segoe UI"/>
              </a:rPr>
              <a:t>◆  </a:t>
            </a:r>
            <a:r>
              <a:rPr sz="1700" b="1">
                <a:solidFill>
                  <a:srgbClr val="1E1C1F"/>
                </a:solidFill>
                <a:latin typeface="Segoe UI"/>
              </a:rPr>
              <a:t>Match the fixture. </a:t>
            </a:r>
            <a:r>
              <a:rPr sz="1700" b="0">
                <a:solidFill>
                  <a:srgbClr val="535057"/>
                </a:solidFill>
                <a:latin typeface="Segoe UI"/>
              </a:rPr>
              <a:t>Pick bowlers with proven records at RCB's key away grounds.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6E0A11"/>
              </a:gs>
              <a:gs pos="55000">
                <a:srgbClr val="3A0A0E"/>
              </a:gs>
              <a:gs pos="100000">
                <a:srgbClr val="140E10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"/>
            <a:ext cx="12191695" cy="24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Segoe UI Semibold"/>
              </a:rPr>
              <a:t>The RCB Auction Blueprint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207008"/>
            <a:ext cx="1371600" cy="36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850" y="384048"/>
            <a:ext cx="571813" cy="7863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6032" y="1517904"/>
            <a:ext cx="5757519" cy="1335024"/>
          </a:xfrm>
          <a:prstGeom prst="roundRect">
            <a:avLst>
              <a:gd name="adj" fmla="val 7000"/>
            </a:avLst>
          </a:prstGeom>
          <a:solidFill>
            <a:srgbClr val="2A1E22"/>
          </a:solidFill>
          <a:ln w="9525">
            <a:solidFill>
              <a:srgbClr val="5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6" y="1883664"/>
            <a:ext cx="603504" cy="603504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88366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719072"/>
            <a:ext cx="45687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Fix the death overs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231136"/>
            <a:ext cx="45687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7CFD2"/>
                </a:solidFill>
                <a:latin typeface="Segoe UI"/>
              </a:rPr>
              <a:t>Two specialist death bowlers — the highest-leverage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517904"/>
            <a:ext cx="5757519" cy="1335024"/>
          </a:xfrm>
          <a:prstGeom prst="roundRect">
            <a:avLst>
              <a:gd name="adj" fmla="val 7000"/>
            </a:avLst>
          </a:prstGeom>
          <a:solidFill>
            <a:srgbClr val="2A1E22"/>
          </a:solidFill>
          <a:ln w="9525">
            <a:solidFill>
              <a:srgbClr val="5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15887" y="1883664"/>
            <a:ext cx="603504" cy="603504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883664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3983" y="1719072"/>
            <a:ext cx="45687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Build batting on power +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3983" y="2231136"/>
            <a:ext cx="45687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7CFD2"/>
                </a:solidFill>
                <a:latin typeface="Segoe UI"/>
              </a:rPr>
              <a:t>Keep the Kohli–de Villiers core; add an SR-150 finisher.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" y="3054096"/>
            <a:ext cx="5757519" cy="1335024"/>
          </a:xfrm>
          <a:prstGeom prst="roundRect">
            <a:avLst>
              <a:gd name="adj" fmla="val 7000"/>
            </a:avLst>
          </a:prstGeom>
          <a:solidFill>
            <a:srgbClr val="2A1E22"/>
          </a:solidFill>
          <a:ln w="9525">
            <a:solidFill>
              <a:srgbClr val="5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3776" y="3419856"/>
            <a:ext cx="603504" cy="603504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341985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255264"/>
            <a:ext cx="45687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Buy one balancing all-rounder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767328"/>
            <a:ext cx="45687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7CFD2"/>
                </a:solidFill>
                <a:latin typeface="Segoe UI"/>
              </a:rPr>
              <a:t>Lengthen the batting, add a sixth bowling option.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8143" y="3054096"/>
            <a:ext cx="5757519" cy="1335024"/>
          </a:xfrm>
          <a:prstGeom prst="roundRect">
            <a:avLst>
              <a:gd name="adj" fmla="val 7000"/>
            </a:avLst>
          </a:prstGeom>
          <a:solidFill>
            <a:srgbClr val="2A1E22"/>
          </a:solidFill>
          <a:ln w="9525">
            <a:solidFill>
              <a:srgbClr val="5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15887" y="3419856"/>
            <a:ext cx="603504" cy="603504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5887" y="341985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3983" y="3255264"/>
            <a:ext cx="45687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Exploit the fortress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3983" y="3767328"/>
            <a:ext cx="45687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7CFD2"/>
                </a:solidFill>
                <a:latin typeface="Segoe UI"/>
              </a:rPr>
              <a:t>Recruit for flat, high-scoring Chinnaswamy pitches.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" y="4590288"/>
            <a:ext cx="5757519" cy="1335024"/>
          </a:xfrm>
          <a:prstGeom prst="roundRect">
            <a:avLst>
              <a:gd name="adj" fmla="val 7000"/>
            </a:avLst>
          </a:prstGeom>
          <a:solidFill>
            <a:srgbClr val="2A1E22"/>
          </a:solidFill>
          <a:ln w="9525">
            <a:solidFill>
              <a:srgbClr val="5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93776" y="4956048"/>
            <a:ext cx="603504" cy="603504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" y="495604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791456"/>
            <a:ext cx="45687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Make the toss call venue-specific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5303520"/>
            <a:ext cx="45687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7CFD2"/>
                </a:solidFill>
                <a:latin typeface="Segoe UI"/>
              </a:rPr>
              <a:t>Default to chasing; override where batting first wins.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8143" y="4590288"/>
            <a:ext cx="5757519" cy="1335024"/>
          </a:xfrm>
          <a:prstGeom prst="roundRect">
            <a:avLst>
              <a:gd name="adj" fmla="val 7000"/>
            </a:avLst>
          </a:prstGeom>
          <a:solidFill>
            <a:srgbClr val="2A1E22"/>
          </a:solidFill>
          <a:ln w="9525">
            <a:solidFill>
              <a:srgbClr val="52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15887" y="4956048"/>
            <a:ext cx="603504" cy="603504"/>
          </a:xfrm>
          <a:prstGeom prst="ellipse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5887" y="495604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3983" y="4791456"/>
            <a:ext cx="45687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Spend on match-winners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3983" y="5303520"/>
            <a:ext cx="45687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7CFD2"/>
                </a:solidFill>
                <a:latin typeface="Segoe UI"/>
              </a:rPr>
              <a:t>Value = performance per rupee; back 3–4 game-changers.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66019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A9096"/>
                </a:solidFill>
                <a:latin typeface="Segoe UI"/>
              </a:rPr>
              <a:t>Royal Challengers Bangalore  ·  Mega-Auction Analytics  ·  2013–2016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8383" y="6583680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F2A900"/>
                </a:solidFill>
                <a:latin typeface="Segoe UI"/>
              </a:rPr>
              <a:t>20</a:t>
            </a:r>
            <a:endParaRPr sz="1100" b="1">
              <a:solidFill>
                <a:srgbClr val="F2A9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6E0A11"/>
              </a:gs>
              <a:gs pos="55000">
                <a:srgbClr val="3A0A0E"/>
              </a:gs>
              <a:gs pos="100000">
                <a:srgbClr val="140E10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1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"/>
            <a:ext cx="12191695" cy="24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571" y="777240"/>
            <a:ext cx="1296553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718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>
                <a:solidFill>
                  <a:srgbClr val="FFFFFF"/>
                </a:solidFill>
                <a:latin typeface="Segoe UI Semibold"/>
              </a:rPr>
              <a:t>RCB don't need to score more.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>
                <a:solidFill>
                  <a:srgbClr val="F2A900"/>
                </a:solidFill>
                <a:latin typeface="Segoe UI Semibold"/>
              </a:rPr>
              <a:t>They need to concede less when it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006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E7CFD2"/>
                </a:solidFill>
                <a:latin typeface="Segoe UI"/>
              </a:rPr>
              <a:t>Pair the league's best batting with even average death bowling — and the title math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A900"/>
                </a:solidFill>
                <a:latin typeface="Segoe UI"/>
              </a:rPr>
              <a:t>Thank you    ·    RCB Sports-Analytics Desk    ·    SQL +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874100-6000-43b6-a204-2d77792600b9}" enabled="1" method="Standard" siteId="{f38a5ecd-2813-4862-b11b-ac1d563c806f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1678</Words>
  <Application>Microsoft Office PowerPoint</Application>
  <PresentationFormat>Widescreen</PresentationFormat>
  <Paragraphs>244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Segoe UI</vt:lpstr>
      <vt:lpstr>Segoe UI Semibold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Sudeep Sudarshan Rana</dc:creator>
  <cp:keywords/>
  <dc:description/>
  <cp:lastModifiedBy>Sudeep Sudarshan Rana</cp:lastModifiedBy>
  <cp:revision>14</cp:revision>
  <dcterms:created xsi:type="dcterms:W3CDTF">2013-01-27T09:14:16Z</dcterms:created>
  <dcterms:modified xsi:type="dcterms:W3CDTF">2026-08-22T12:13:28Z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Micron Confidential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Micron Confidential</vt:lpwstr>
  </property>
</Properties>
</file>